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Canva Sans Bold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58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95IwwUcq1A" TargetMode="Externa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watch?v=f95IwwUcq1A" TargetMode="Externa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6217" y="3709535"/>
            <a:ext cx="14913983" cy="2367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160"/>
              </a:lnSpc>
            </a:pPr>
            <a:r>
              <a:rPr lang="en-US" sz="9160" b="1" dirty="0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SC4052 CLOUD PROJECT</a:t>
            </a:r>
          </a:p>
          <a:p>
            <a:pPr algn="l">
              <a:lnSpc>
                <a:spcPts val="9160"/>
              </a:lnSpc>
            </a:pPr>
            <a:endParaRPr lang="en-US" sz="9160" b="1" dirty="0">
              <a:solidFill>
                <a:srgbClr val="181818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42926" y="5086350"/>
            <a:ext cx="2802148" cy="905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dirty="0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Lee Jun Yang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U2220336C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14110" y="6829751"/>
            <a:ext cx="6659781" cy="1206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 2: Personal Assistant-as-a-Service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80975"/>
            <a:ext cx="8850655" cy="128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34"/>
              </a:lnSpc>
            </a:pPr>
            <a:r>
              <a:rPr lang="en-US" sz="9634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VIDEO DEMO</a:t>
            </a:r>
          </a:p>
        </p:txBody>
      </p:sp>
      <p:pic>
        <p:nvPicPr>
          <p:cNvPr id="3" name="Picture 3">
            <a:hlinkClick r:id="rId3" tooltip="https://www.youtube.com/watch?v=f95IwwUcq1A"/>
          </p:cNvPr>
          <p:cNvPicPr>
            <a:picLocks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122634" y="1666671"/>
            <a:ext cx="14042732" cy="7892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5555" y="1565794"/>
            <a:ext cx="7821314" cy="8433694"/>
          </a:xfrm>
          <a:custGeom>
            <a:avLst/>
            <a:gdLst/>
            <a:ahLst/>
            <a:cxnLst/>
            <a:rect l="l" t="t" r="r" b="b"/>
            <a:pathLst>
              <a:path w="7821314" h="8433694">
                <a:moveTo>
                  <a:pt x="0" y="0"/>
                </a:moveTo>
                <a:lnTo>
                  <a:pt x="7821314" y="0"/>
                </a:lnTo>
                <a:lnTo>
                  <a:pt x="7821314" y="8433694"/>
                </a:lnTo>
                <a:lnTo>
                  <a:pt x="0" y="84336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4537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1298" y="435673"/>
            <a:ext cx="9965495" cy="95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7251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4787" y="1953182"/>
            <a:ext cx="8684513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Orchestrator routes to specified agent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4787" y="2566813"/>
            <a:ext cx="8684513" cy="5680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After receiving user input, the system assembles a system prompt at the orchestrator level before invoking the LLM.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This prompt combines agent definitions and conversation history to provide full context.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The orchestrator LLM uses this context to interpret the request and route it to the most appropriate agent.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This approach enables flexible and dynamic behaviour without modifying the underlying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4544" y="2000807"/>
            <a:ext cx="7821314" cy="5810867"/>
          </a:xfrm>
          <a:custGeom>
            <a:avLst/>
            <a:gdLst/>
            <a:ahLst/>
            <a:cxnLst/>
            <a:rect l="l" t="t" r="r" b="b"/>
            <a:pathLst>
              <a:path w="7821314" h="5810867">
                <a:moveTo>
                  <a:pt x="0" y="0"/>
                </a:moveTo>
                <a:lnTo>
                  <a:pt x="7821314" y="0"/>
                </a:lnTo>
                <a:lnTo>
                  <a:pt x="7821314" y="5810867"/>
                </a:lnTo>
                <a:lnTo>
                  <a:pt x="0" y="58108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0943" b="-5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1298" y="435673"/>
            <a:ext cx="9965495" cy="95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7251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OVERALL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4787" y="1953182"/>
            <a:ext cx="8684513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How agent completes its task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574787" y="2566813"/>
            <a:ext cx="8684513" cy="3927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After the task is routed to a specific agent, the system performs prompt assembly again.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This prompt combines rules.md, preferences.md, and the agent-specific tools to provide full context.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The assembled prompt is then passed to the LLM, enabling the agent to execute the task and generate the final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62969" y="2583580"/>
            <a:ext cx="12162062" cy="2720893"/>
          </a:xfrm>
          <a:custGeom>
            <a:avLst/>
            <a:gdLst/>
            <a:ahLst/>
            <a:cxnLst/>
            <a:rect l="l" t="t" r="r" b="b"/>
            <a:pathLst>
              <a:path w="12162062" h="2720893">
                <a:moveTo>
                  <a:pt x="0" y="0"/>
                </a:moveTo>
                <a:lnTo>
                  <a:pt x="12162062" y="0"/>
                </a:lnTo>
                <a:lnTo>
                  <a:pt x="12162062" y="2720893"/>
                </a:lnTo>
                <a:lnTo>
                  <a:pt x="0" y="2720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19271"/>
            <a:ext cx="12672248" cy="96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1"/>
              </a:lnSpc>
            </a:pPr>
            <a:r>
              <a:rPr lang="en-US" sz="7251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AGENTIC LOOP WORKFLOW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7218" y="5948484"/>
            <a:ext cx="14964802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Overall Orchestrator - Worker Workflow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17218" y="6553939"/>
            <a:ext cx="14823481" cy="217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Our Personal Assistant-as-a-Service application will follow this flow which involves 5 different agents.</a:t>
            </a: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The orchestrator agent with user’s input and assembled system prompts will decided which agent to route to.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986468"/>
            <a:ext cx="7502020" cy="6314065"/>
          </a:xfrm>
          <a:custGeom>
            <a:avLst/>
            <a:gdLst/>
            <a:ahLst/>
            <a:cxnLst/>
            <a:rect l="l" t="t" r="r" b="b"/>
            <a:pathLst>
              <a:path w="7502020" h="6314065">
                <a:moveTo>
                  <a:pt x="0" y="0"/>
                </a:moveTo>
                <a:lnTo>
                  <a:pt x="7502020" y="0"/>
                </a:lnTo>
                <a:lnTo>
                  <a:pt x="7502020" y="6314064"/>
                </a:lnTo>
                <a:lnTo>
                  <a:pt x="0" y="63140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01298" y="435673"/>
            <a:ext cx="9965495" cy="955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51"/>
              </a:lnSpc>
            </a:pPr>
            <a:r>
              <a:rPr lang="en-US" sz="7251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RESTFUL API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4787" y="1953182"/>
            <a:ext cx="8684513" cy="42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Use of RESTful API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93228" y="2566813"/>
            <a:ext cx="8684513" cy="611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Our PAaaS platform uses RESTful APIs to enable communication between the frontend, orchestrator, and backend services.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Endpoints such as “/api/chat/stream” and “api/thread” handle user interactions,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Service endpoints (e.g., the email service) support modular and scalable operations, where specific functions can be invoked independently and resumed as needed through HTTP requests.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This design ensures loose coupling, scalability, and easier integration of independent services.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6350" y="560513"/>
            <a:ext cx="13870709" cy="109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2"/>
              </a:lnSpc>
            </a:pPr>
            <a:r>
              <a:rPr lang="en-US" sz="8272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 OF AGENTS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97652" y="3117636"/>
            <a:ext cx="3315386" cy="6140664"/>
            <a:chOff x="0" y="0"/>
            <a:chExt cx="752735" cy="13941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2735" cy="1394195"/>
            </a:xfrm>
            <a:custGeom>
              <a:avLst/>
              <a:gdLst/>
              <a:ahLst/>
              <a:cxnLst/>
              <a:rect l="l" t="t" r="r" b="b"/>
              <a:pathLst>
                <a:path w="752735" h="1394195">
                  <a:moveTo>
                    <a:pt x="70054" y="0"/>
                  </a:moveTo>
                  <a:lnTo>
                    <a:pt x="682681" y="0"/>
                  </a:lnTo>
                  <a:cubicBezTo>
                    <a:pt x="721371" y="0"/>
                    <a:pt x="752735" y="31364"/>
                    <a:pt x="752735" y="70054"/>
                  </a:cubicBezTo>
                  <a:lnTo>
                    <a:pt x="752735" y="1324141"/>
                  </a:lnTo>
                  <a:cubicBezTo>
                    <a:pt x="752735" y="1362831"/>
                    <a:pt x="721371" y="1394195"/>
                    <a:pt x="682681" y="1394195"/>
                  </a:cubicBezTo>
                  <a:lnTo>
                    <a:pt x="70054" y="1394195"/>
                  </a:lnTo>
                  <a:cubicBezTo>
                    <a:pt x="31364" y="1394195"/>
                    <a:pt x="0" y="1362831"/>
                    <a:pt x="0" y="1324141"/>
                  </a:cubicBezTo>
                  <a:lnTo>
                    <a:pt x="0" y="70054"/>
                  </a:lnTo>
                  <a:cubicBezTo>
                    <a:pt x="0" y="31364"/>
                    <a:pt x="31364" y="0"/>
                    <a:pt x="70054" y="0"/>
                  </a:cubicBezTo>
                  <a:close/>
                </a:path>
              </a:pathLst>
            </a:custGeom>
            <a:solidFill>
              <a:srgbClr val="FEFEFE"/>
            </a:solidFill>
            <a:ln w="19050" cap="rnd">
              <a:solidFill>
                <a:srgbClr val="181818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752735" cy="14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75517" y="3508046"/>
            <a:ext cx="2159656" cy="3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856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Weather Agent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28423" y="3117636"/>
            <a:ext cx="3315386" cy="6140664"/>
            <a:chOff x="0" y="0"/>
            <a:chExt cx="752735" cy="139419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52735" cy="1394195"/>
            </a:xfrm>
            <a:custGeom>
              <a:avLst/>
              <a:gdLst/>
              <a:ahLst/>
              <a:cxnLst/>
              <a:rect l="l" t="t" r="r" b="b"/>
              <a:pathLst>
                <a:path w="752735" h="1394195">
                  <a:moveTo>
                    <a:pt x="70054" y="0"/>
                  </a:moveTo>
                  <a:lnTo>
                    <a:pt x="682681" y="0"/>
                  </a:lnTo>
                  <a:cubicBezTo>
                    <a:pt x="721371" y="0"/>
                    <a:pt x="752735" y="31364"/>
                    <a:pt x="752735" y="70054"/>
                  </a:cubicBezTo>
                  <a:lnTo>
                    <a:pt x="752735" y="1324141"/>
                  </a:lnTo>
                  <a:cubicBezTo>
                    <a:pt x="752735" y="1362831"/>
                    <a:pt x="721371" y="1394195"/>
                    <a:pt x="682681" y="1394195"/>
                  </a:cubicBezTo>
                  <a:lnTo>
                    <a:pt x="70054" y="1394195"/>
                  </a:lnTo>
                  <a:cubicBezTo>
                    <a:pt x="31364" y="1394195"/>
                    <a:pt x="0" y="1362831"/>
                    <a:pt x="0" y="1324141"/>
                  </a:cubicBezTo>
                  <a:lnTo>
                    <a:pt x="0" y="70054"/>
                  </a:lnTo>
                  <a:cubicBezTo>
                    <a:pt x="0" y="31364"/>
                    <a:pt x="31364" y="0"/>
                    <a:pt x="70054" y="0"/>
                  </a:cubicBezTo>
                  <a:close/>
                </a:path>
              </a:pathLst>
            </a:custGeom>
            <a:solidFill>
              <a:srgbClr val="FEFEFE"/>
            </a:solidFill>
            <a:ln w="19050" cap="rnd">
              <a:solidFill>
                <a:srgbClr val="181818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752735" cy="14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009448" y="3508046"/>
            <a:ext cx="2159656" cy="3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856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Calender Agent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113037" y="3117636"/>
            <a:ext cx="3315386" cy="6140664"/>
            <a:chOff x="0" y="0"/>
            <a:chExt cx="752735" cy="13941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52735" cy="1394195"/>
            </a:xfrm>
            <a:custGeom>
              <a:avLst/>
              <a:gdLst/>
              <a:ahLst/>
              <a:cxnLst/>
              <a:rect l="l" t="t" r="r" b="b"/>
              <a:pathLst>
                <a:path w="752735" h="1394195">
                  <a:moveTo>
                    <a:pt x="70054" y="0"/>
                  </a:moveTo>
                  <a:lnTo>
                    <a:pt x="682681" y="0"/>
                  </a:lnTo>
                  <a:cubicBezTo>
                    <a:pt x="721371" y="0"/>
                    <a:pt x="752735" y="31364"/>
                    <a:pt x="752735" y="70054"/>
                  </a:cubicBezTo>
                  <a:lnTo>
                    <a:pt x="752735" y="1324141"/>
                  </a:lnTo>
                  <a:cubicBezTo>
                    <a:pt x="752735" y="1362831"/>
                    <a:pt x="721371" y="1394195"/>
                    <a:pt x="682681" y="1394195"/>
                  </a:cubicBezTo>
                  <a:lnTo>
                    <a:pt x="70054" y="1394195"/>
                  </a:lnTo>
                  <a:cubicBezTo>
                    <a:pt x="31364" y="1394195"/>
                    <a:pt x="0" y="1362831"/>
                    <a:pt x="0" y="1324141"/>
                  </a:cubicBezTo>
                  <a:lnTo>
                    <a:pt x="0" y="70054"/>
                  </a:lnTo>
                  <a:cubicBezTo>
                    <a:pt x="0" y="31364"/>
                    <a:pt x="31364" y="0"/>
                    <a:pt x="70054" y="0"/>
                  </a:cubicBezTo>
                  <a:close/>
                </a:path>
              </a:pathLst>
            </a:custGeom>
            <a:solidFill>
              <a:srgbClr val="FEFEFE"/>
            </a:solidFill>
            <a:ln w="19050" cap="rnd">
              <a:solidFill>
                <a:srgbClr val="181818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52735" cy="14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544867" y="3508046"/>
            <a:ext cx="2159656" cy="3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856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Email Agent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743809" y="3117636"/>
            <a:ext cx="3315386" cy="6140664"/>
            <a:chOff x="0" y="0"/>
            <a:chExt cx="752735" cy="139419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52735" cy="1394195"/>
            </a:xfrm>
            <a:custGeom>
              <a:avLst/>
              <a:gdLst/>
              <a:ahLst/>
              <a:cxnLst/>
              <a:rect l="l" t="t" r="r" b="b"/>
              <a:pathLst>
                <a:path w="752735" h="1394195">
                  <a:moveTo>
                    <a:pt x="70054" y="0"/>
                  </a:moveTo>
                  <a:lnTo>
                    <a:pt x="682681" y="0"/>
                  </a:lnTo>
                  <a:cubicBezTo>
                    <a:pt x="721371" y="0"/>
                    <a:pt x="752735" y="31364"/>
                    <a:pt x="752735" y="70054"/>
                  </a:cubicBezTo>
                  <a:lnTo>
                    <a:pt x="752735" y="1324141"/>
                  </a:lnTo>
                  <a:cubicBezTo>
                    <a:pt x="752735" y="1362831"/>
                    <a:pt x="721371" y="1394195"/>
                    <a:pt x="682681" y="1394195"/>
                  </a:cubicBezTo>
                  <a:lnTo>
                    <a:pt x="70054" y="1394195"/>
                  </a:lnTo>
                  <a:cubicBezTo>
                    <a:pt x="31364" y="1394195"/>
                    <a:pt x="0" y="1362831"/>
                    <a:pt x="0" y="1324141"/>
                  </a:cubicBezTo>
                  <a:lnTo>
                    <a:pt x="0" y="70054"/>
                  </a:lnTo>
                  <a:cubicBezTo>
                    <a:pt x="0" y="31364"/>
                    <a:pt x="31364" y="0"/>
                    <a:pt x="70054" y="0"/>
                  </a:cubicBezTo>
                  <a:close/>
                </a:path>
              </a:pathLst>
            </a:custGeom>
            <a:solidFill>
              <a:srgbClr val="FEFEFE"/>
            </a:solidFill>
            <a:ln w="19050" cap="rnd">
              <a:solidFill>
                <a:srgbClr val="181818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752735" cy="14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1032741" y="3508046"/>
            <a:ext cx="2737521" cy="3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856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User Preference Agent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4056012" y="3117636"/>
            <a:ext cx="3315386" cy="6140664"/>
            <a:chOff x="0" y="0"/>
            <a:chExt cx="752735" cy="139419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2735" cy="1394195"/>
            </a:xfrm>
            <a:custGeom>
              <a:avLst/>
              <a:gdLst/>
              <a:ahLst/>
              <a:cxnLst/>
              <a:rect l="l" t="t" r="r" b="b"/>
              <a:pathLst>
                <a:path w="752735" h="1394195">
                  <a:moveTo>
                    <a:pt x="70054" y="0"/>
                  </a:moveTo>
                  <a:lnTo>
                    <a:pt x="682681" y="0"/>
                  </a:lnTo>
                  <a:cubicBezTo>
                    <a:pt x="721371" y="0"/>
                    <a:pt x="752735" y="31364"/>
                    <a:pt x="752735" y="70054"/>
                  </a:cubicBezTo>
                  <a:lnTo>
                    <a:pt x="752735" y="1324141"/>
                  </a:lnTo>
                  <a:cubicBezTo>
                    <a:pt x="752735" y="1362831"/>
                    <a:pt x="721371" y="1394195"/>
                    <a:pt x="682681" y="1394195"/>
                  </a:cubicBezTo>
                  <a:lnTo>
                    <a:pt x="70054" y="1394195"/>
                  </a:lnTo>
                  <a:cubicBezTo>
                    <a:pt x="31364" y="1394195"/>
                    <a:pt x="0" y="1362831"/>
                    <a:pt x="0" y="1324141"/>
                  </a:cubicBezTo>
                  <a:lnTo>
                    <a:pt x="0" y="70054"/>
                  </a:lnTo>
                  <a:cubicBezTo>
                    <a:pt x="0" y="31364"/>
                    <a:pt x="31364" y="0"/>
                    <a:pt x="70054" y="0"/>
                  </a:cubicBezTo>
                  <a:close/>
                </a:path>
              </a:pathLst>
            </a:custGeom>
            <a:solidFill>
              <a:srgbClr val="FEFEFE"/>
            </a:solidFill>
            <a:ln w="19050" cap="rnd">
              <a:solidFill>
                <a:srgbClr val="181818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752735" cy="14322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4637059" y="3508046"/>
            <a:ext cx="2159656" cy="30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98"/>
              </a:lnSpc>
              <a:spcBef>
                <a:spcPct val="0"/>
              </a:spcBef>
            </a:pPr>
            <a:r>
              <a:rPr lang="en-US" sz="1856" b="1" i="1">
                <a:solidFill>
                  <a:srgbClr val="181818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General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7179" y="4058036"/>
            <a:ext cx="3134884" cy="382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Provides real-time weather information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Supports forecasts (hourly and multi-day)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Retrieves metrics such as temperature, humidity, wind speed, rainfall, UV index, and PSI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Can return both local and global weather data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endParaRPr lang="en-US" sz="1856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112564" y="4058036"/>
            <a:ext cx="3134884" cy="2544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Reads and summarises emails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Searches for specific messages in the inbox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Composes new emails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Sends replies to existing email threads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endParaRPr lang="en-US" sz="1856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7427950" y="4058036"/>
            <a:ext cx="3134884" cy="382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Manages calendar events (create, read, update, delete)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Checks for scheduling conflicts before creating events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Supports searching and retrieving events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Handles event modifications and deletions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endParaRPr lang="en-US" sz="1856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741981" y="4058036"/>
            <a:ext cx="3134884" cy="3826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Stores and updates user-specific settings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Manages preferences such as timezone, email tone, and measurement units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Ensures personalised responses across sessions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Persists preferences for consistent behaviour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endParaRPr lang="en-US" sz="1856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056012" y="4058036"/>
            <a:ext cx="3134884" cy="3185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Handles general queries not requiring specialised tools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Provides natural language responses</a:t>
            </a:r>
          </a:p>
          <a:p>
            <a:pPr marL="400717" lvl="1" indent="-200358" algn="l">
              <a:lnSpc>
                <a:spcPts val="2598"/>
              </a:lnSpc>
              <a:buFont typeface="Arial"/>
              <a:buChar char="•"/>
            </a:pPr>
            <a:r>
              <a:rPr lang="en-US" sz="1856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Acts as a fallback agent when no specific domain agent is required</a:t>
            </a:r>
          </a:p>
          <a:p>
            <a:pPr algn="l">
              <a:lnSpc>
                <a:spcPts val="2598"/>
              </a:lnSpc>
              <a:spcBef>
                <a:spcPct val="0"/>
              </a:spcBef>
            </a:pPr>
            <a:endParaRPr lang="en-US" sz="1856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365" y="2188132"/>
            <a:ext cx="7691422" cy="5124410"/>
          </a:xfrm>
          <a:custGeom>
            <a:avLst/>
            <a:gdLst/>
            <a:ahLst/>
            <a:cxnLst/>
            <a:rect l="l" t="t" r="r" b="b"/>
            <a:pathLst>
              <a:path w="7691422" h="5124410">
                <a:moveTo>
                  <a:pt x="0" y="0"/>
                </a:moveTo>
                <a:lnTo>
                  <a:pt x="7691422" y="0"/>
                </a:lnTo>
                <a:lnTo>
                  <a:pt x="7691422" y="5124410"/>
                </a:lnTo>
                <a:lnTo>
                  <a:pt x="0" y="5124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560513"/>
            <a:ext cx="14547397" cy="1098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2"/>
              </a:lnSpc>
            </a:pPr>
            <a:r>
              <a:rPr lang="en-US" sz="8272" b="1">
                <a:solidFill>
                  <a:srgbClr val="18181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52936" y="2327981"/>
            <a:ext cx="8684513" cy="348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Due to resource constraints, smaller-sized LLMs were used in this application as the models were required to run locally on available GPUs. 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9745" lvl="1" indent="-269872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81818"/>
                </a:solidFill>
                <a:latin typeface="Canva Sans"/>
                <a:ea typeface="Canva Sans"/>
                <a:cs typeface="Canva Sans"/>
                <a:sym typeface="Canva Sans"/>
              </a:rPr>
              <a:t>As a result, the token throughput is relatively lower, which impacts the overall responsiveness and efficiency of the system.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>
              <a:solidFill>
                <a:srgbClr val="181818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483</Words>
  <Application>Microsoft Office PowerPoint</Application>
  <PresentationFormat>Custom</PresentationFormat>
  <Paragraphs>63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Canva Sans</vt:lpstr>
      <vt:lpstr>Arial</vt:lpstr>
      <vt:lpstr>Canva Sans Bold</vt:lpstr>
      <vt:lpstr>Calibri</vt:lpstr>
      <vt:lpstr>Canva Sans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Salford &amp; Co.</dc:title>
  <cp:lastModifiedBy>lee jun yang</cp:lastModifiedBy>
  <cp:revision>2</cp:revision>
  <dcterms:created xsi:type="dcterms:W3CDTF">2006-08-16T00:00:00Z</dcterms:created>
  <dcterms:modified xsi:type="dcterms:W3CDTF">2026-04-05T09:26:37Z</dcterms:modified>
  <dc:identifier>DAHF9zPEFto</dc:identifier>
</cp:coreProperties>
</file>